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6" r:id="rId9"/>
    <p:sldId id="269" r:id="rId10"/>
    <p:sldId id="270" r:id="rId11"/>
    <p:sldId id="267" r:id="rId12"/>
    <p:sldId id="271" r:id="rId13"/>
    <p:sldId id="272" r:id="rId14"/>
    <p:sldId id="273" r:id="rId15"/>
    <p:sldId id="274" r:id="rId16"/>
    <p:sldId id="275" r:id="rId17"/>
    <p:sldId id="264" r:id="rId18"/>
    <p:sldId id="268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6B753-06C3-FF1D-241C-D4B4C9241901}" v="10" dt="2026-05-04T20:49:26.776"/>
    <p1510:client id="{61445D2D-8F7D-C49E-B39A-F8BE1E6D2A5E}" v="111" dt="2026-05-04T19:04:33.218"/>
    <p1510:client id="{63973EF2-9773-061B-A48A-A4941BF60BE7}" v="95" dt="2026-05-04T17:57:33.101"/>
    <p1510:client id="{68E7ECA1-1E6D-FDED-9BD9-51F04EE5F3E2}" v="4" dt="2026-05-04T17:37:25.130"/>
    <p1510:client id="{A1353F67-0A71-66BE-95FF-D38A1C3DB82F}" v="48" dt="2026-05-04T02:27:11.873"/>
    <p1510:client id="{B9558E4E-4627-D264-587C-C138AA5B8E22}" v="3" dt="2026-05-03T16:33:54.874"/>
    <p1510:client id="{D5E990A2-D2CF-7A1D-2280-2D3BD1943034}" v="1441" dt="2026-05-04T05:42:41.791"/>
    <p1510:client id="{DA369B36-EB68-C5DE-D489-BB33B0F9F47F}" v="755" dt="2026-05-03T16:50:02.403"/>
    <p1510:client id="{E70286A9-8039-B166-BFD3-E18D4091C471}" v="42" dt="2026-05-04T06:06:47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043580-FBFA-4A81-946F-907E7AA1966E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CCE597E-F3FE-4940-9F1D-00865F74503A}">
      <dgm:prSet/>
      <dgm:spPr/>
      <dgm:t>
        <a:bodyPr/>
        <a:lstStyle/>
        <a:p>
          <a:r>
            <a:rPr lang="en-US"/>
            <a:t>Analyze Bitcoin Price Trends</a:t>
          </a:r>
        </a:p>
      </dgm:t>
    </dgm:pt>
    <dgm:pt modelId="{B44407AA-27D8-4132-87F1-98B58A2F3042}" type="parTrans" cxnId="{A24E8B14-7CF8-42C4-AFBF-04CB2A4FCD13}">
      <dgm:prSet/>
      <dgm:spPr/>
      <dgm:t>
        <a:bodyPr/>
        <a:lstStyle/>
        <a:p>
          <a:endParaRPr lang="en-US"/>
        </a:p>
      </dgm:t>
    </dgm:pt>
    <dgm:pt modelId="{F5BADA09-5843-49F8-9CE5-10DE79EEC871}" type="sibTrans" cxnId="{A24E8B14-7CF8-42C4-AFBF-04CB2A4FCD13}">
      <dgm:prSet/>
      <dgm:spPr/>
      <dgm:t>
        <a:bodyPr/>
        <a:lstStyle/>
        <a:p>
          <a:endParaRPr lang="en-US"/>
        </a:p>
      </dgm:t>
    </dgm:pt>
    <dgm:pt modelId="{01BABAA4-0EED-4161-81E0-6856BC20C2BF}">
      <dgm:prSet/>
      <dgm:spPr/>
      <dgm:t>
        <a:bodyPr/>
        <a:lstStyle/>
        <a:p>
          <a:r>
            <a:rPr lang="en-US"/>
            <a:t>Measure Market Volatility</a:t>
          </a:r>
        </a:p>
      </dgm:t>
    </dgm:pt>
    <dgm:pt modelId="{DD12662F-C601-4A66-B941-2EFD00133C4B}" type="parTrans" cxnId="{6486ABE9-4E82-41CA-89CD-E989B7A9A979}">
      <dgm:prSet/>
      <dgm:spPr/>
      <dgm:t>
        <a:bodyPr/>
        <a:lstStyle/>
        <a:p>
          <a:endParaRPr lang="en-US"/>
        </a:p>
      </dgm:t>
    </dgm:pt>
    <dgm:pt modelId="{D4FF252E-F887-4419-B752-F2F6A110E629}" type="sibTrans" cxnId="{6486ABE9-4E82-41CA-89CD-E989B7A9A979}">
      <dgm:prSet/>
      <dgm:spPr/>
      <dgm:t>
        <a:bodyPr/>
        <a:lstStyle/>
        <a:p>
          <a:endParaRPr lang="en-US"/>
        </a:p>
      </dgm:t>
    </dgm:pt>
    <dgm:pt modelId="{E9F12D27-F2C2-40F7-89A7-6B517CD8058C}">
      <dgm:prSet/>
      <dgm:spPr/>
      <dgm:t>
        <a:bodyPr/>
        <a:lstStyle/>
        <a:p>
          <a:r>
            <a:rPr lang="en-US"/>
            <a:t>Study relationship between volume and prices changes</a:t>
          </a:r>
        </a:p>
      </dgm:t>
    </dgm:pt>
    <dgm:pt modelId="{14F14C3F-2153-44B9-8F0B-CC254B5EDD02}" type="parTrans" cxnId="{D4ACBFED-436D-4A43-97F4-96155BDAE279}">
      <dgm:prSet/>
      <dgm:spPr/>
      <dgm:t>
        <a:bodyPr/>
        <a:lstStyle/>
        <a:p>
          <a:endParaRPr lang="en-US"/>
        </a:p>
      </dgm:t>
    </dgm:pt>
    <dgm:pt modelId="{B0869963-132B-4C73-B818-001BDB074443}" type="sibTrans" cxnId="{D4ACBFED-436D-4A43-97F4-96155BDAE279}">
      <dgm:prSet/>
      <dgm:spPr/>
      <dgm:t>
        <a:bodyPr/>
        <a:lstStyle/>
        <a:p>
          <a:endParaRPr lang="en-US"/>
        </a:p>
      </dgm:t>
    </dgm:pt>
    <dgm:pt modelId="{58B2881C-98DC-4A4E-A8D1-A5FB1C26EF4C}">
      <dgm:prSet/>
      <dgm:spPr/>
      <dgm:t>
        <a:bodyPr/>
        <a:lstStyle/>
        <a:p>
          <a:r>
            <a:rPr lang="en-US"/>
            <a:t>Data visualization for insights </a:t>
          </a:r>
        </a:p>
      </dgm:t>
    </dgm:pt>
    <dgm:pt modelId="{E456BDAF-ABDE-427B-9FD2-15AB1AFD2818}" type="parTrans" cxnId="{6697D87A-DD3B-4585-8D14-7217A4BC16E4}">
      <dgm:prSet/>
      <dgm:spPr/>
      <dgm:t>
        <a:bodyPr/>
        <a:lstStyle/>
        <a:p>
          <a:endParaRPr lang="en-US"/>
        </a:p>
      </dgm:t>
    </dgm:pt>
    <dgm:pt modelId="{045DC31C-C5C1-4ACB-9F93-343469A53B05}" type="sibTrans" cxnId="{6697D87A-DD3B-4585-8D14-7217A4BC16E4}">
      <dgm:prSet/>
      <dgm:spPr/>
      <dgm:t>
        <a:bodyPr/>
        <a:lstStyle/>
        <a:p>
          <a:endParaRPr lang="en-US"/>
        </a:p>
      </dgm:t>
    </dgm:pt>
    <dgm:pt modelId="{F7803272-CEE7-4244-99B2-4BB721D14647}" type="pres">
      <dgm:prSet presAssocID="{59043580-FBFA-4A81-946F-907E7AA1966E}" presName="matrix" presStyleCnt="0">
        <dgm:presLayoutVars>
          <dgm:chMax val="1"/>
          <dgm:dir/>
          <dgm:resizeHandles val="exact"/>
        </dgm:presLayoutVars>
      </dgm:prSet>
      <dgm:spPr/>
    </dgm:pt>
    <dgm:pt modelId="{3849FF09-1FAE-40E0-BE1D-3420AEDC3CD0}" type="pres">
      <dgm:prSet presAssocID="{59043580-FBFA-4A81-946F-907E7AA1966E}" presName="diamond" presStyleLbl="bgShp" presStyleIdx="0" presStyleCnt="1"/>
      <dgm:spPr/>
    </dgm:pt>
    <dgm:pt modelId="{91D22D2D-50F2-45D2-8A09-75DD1A965D02}" type="pres">
      <dgm:prSet presAssocID="{59043580-FBFA-4A81-946F-907E7AA1966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66F092-3227-4F28-8443-CE8EF4969398}" type="pres">
      <dgm:prSet presAssocID="{59043580-FBFA-4A81-946F-907E7AA1966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E190490-3403-40C1-AF72-B9BDF014FFF8}" type="pres">
      <dgm:prSet presAssocID="{59043580-FBFA-4A81-946F-907E7AA1966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CA45FC-1475-4B20-9711-A3A3A5C827A5}" type="pres">
      <dgm:prSet presAssocID="{59043580-FBFA-4A81-946F-907E7AA1966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24E8B14-7CF8-42C4-AFBF-04CB2A4FCD13}" srcId="{59043580-FBFA-4A81-946F-907E7AA1966E}" destId="{BCCE597E-F3FE-4940-9F1D-00865F74503A}" srcOrd="0" destOrd="0" parTransId="{B44407AA-27D8-4132-87F1-98B58A2F3042}" sibTransId="{F5BADA09-5843-49F8-9CE5-10DE79EEC871}"/>
    <dgm:cxn modelId="{593A4B2D-58A1-4313-BAF7-254C30A16E20}" type="presOf" srcId="{59043580-FBFA-4A81-946F-907E7AA1966E}" destId="{F7803272-CEE7-4244-99B2-4BB721D14647}" srcOrd="0" destOrd="0" presId="urn:microsoft.com/office/officeart/2005/8/layout/matrix3"/>
    <dgm:cxn modelId="{9A613650-F95A-428B-BA0C-E54BE09A493C}" type="presOf" srcId="{01BABAA4-0EED-4161-81E0-6856BC20C2BF}" destId="{A566F092-3227-4F28-8443-CE8EF4969398}" srcOrd="0" destOrd="0" presId="urn:microsoft.com/office/officeart/2005/8/layout/matrix3"/>
    <dgm:cxn modelId="{88DBDC56-2D6D-40D2-98F8-75EF84BF7B7F}" type="presOf" srcId="{58B2881C-98DC-4A4E-A8D1-A5FB1C26EF4C}" destId="{6DCA45FC-1475-4B20-9711-A3A3A5C827A5}" srcOrd="0" destOrd="0" presId="urn:microsoft.com/office/officeart/2005/8/layout/matrix3"/>
    <dgm:cxn modelId="{6697D87A-DD3B-4585-8D14-7217A4BC16E4}" srcId="{59043580-FBFA-4A81-946F-907E7AA1966E}" destId="{58B2881C-98DC-4A4E-A8D1-A5FB1C26EF4C}" srcOrd="3" destOrd="0" parTransId="{E456BDAF-ABDE-427B-9FD2-15AB1AFD2818}" sibTransId="{045DC31C-C5C1-4ACB-9F93-343469A53B05}"/>
    <dgm:cxn modelId="{AE7B4D88-F98C-4DC2-AE4A-BBE1D3297EB5}" type="presOf" srcId="{E9F12D27-F2C2-40F7-89A7-6B517CD8058C}" destId="{3E190490-3403-40C1-AF72-B9BDF014FFF8}" srcOrd="0" destOrd="0" presId="urn:microsoft.com/office/officeart/2005/8/layout/matrix3"/>
    <dgm:cxn modelId="{217E79D6-C314-4E38-8E5B-911889312E6C}" type="presOf" srcId="{BCCE597E-F3FE-4940-9F1D-00865F74503A}" destId="{91D22D2D-50F2-45D2-8A09-75DD1A965D02}" srcOrd="0" destOrd="0" presId="urn:microsoft.com/office/officeart/2005/8/layout/matrix3"/>
    <dgm:cxn modelId="{6486ABE9-4E82-41CA-89CD-E989B7A9A979}" srcId="{59043580-FBFA-4A81-946F-907E7AA1966E}" destId="{01BABAA4-0EED-4161-81E0-6856BC20C2BF}" srcOrd="1" destOrd="0" parTransId="{DD12662F-C601-4A66-B941-2EFD00133C4B}" sibTransId="{D4FF252E-F887-4419-B752-F2F6A110E629}"/>
    <dgm:cxn modelId="{D4ACBFED-436D-4A43-97F4-96155BDAE279}" srcId="{59043580-FBFA-4A81-946F-907E7AA1966E}" destId="{E9F12D27-F2C2-40F7-89A7-6B517CD8058C}" srcOrd="2" destOrd="0" parTransId="{14F14C3F-2153-44B9-8F0B-CC254B5EDD02}" sibTransId="{B0869963-132B-4C73-B818-001BDB074443}"/>
    <dgm:cxn modelId="{28BCBE02-E8D6-46B5-865B-18B61DCC4C50}" type="presParOf" srcId="{F7803272-CEE7-4244-99B2-4BB721D14647}" destId="{3849FF09-1FAE-40E0-BE1D-3420AEDC3CD0}" srcOrd="0" destOrd="0" presId="urn:microsoft.com/office/officeart/2005/8/layout/matrix3"/>
    <dgm:cxn modelId="{00346EB0-77DE-41F7-9A1F-C3775FBFB024}" type="presParOf" srcId="{F7803272-CEE7-4244-99B2-4BB721D14647}" destId="{91D22D2D-50F2-45D2-8A09-75DD1A965D02}" srcOrd="1" destOrd="0" presId="urn:microsoft.com/office/officeart/2005/8/layout/matrix3"/>
    <dgm:cxn modelId="{8A017C76-7012-4AE0-8A0C-6AAB8433C73B}" type="presParOf" srcId="{F7803272-CEE7-4244-99B2-4BB721D14647}" destId="{A566F092-3227-4F28-8443-CE8EF4969398}" srcOrd="2" destOrd="0" presId="urn:microsoft.com/office/officeart/2005/8/layout/matrix3"/>
    <dgm:cxn modelId="{239C7275-1B8E-4DED-A013-7873FC207CE3}" type="presParOf" srcId="{F7803272-CEE7-4244-99B2-4BB721D14647}" destId="{3E190490-3403-40C1-AF72-B9BDF014FFF8}" srcOrd="3" destOrd="0" presId="urn:microsoft.com/office/officeart/2005/8/layout/matrix3"/>
    <dgm:cxn modelId="{F38DBFD3-44BC-43AB-A401-FDFB9303CC6C}" type="presParOf" srcId="{F7803272-CEE7-4244-99B2-4BB721D14647}" destId="{6DCA45FC-1475-4B20-9711-A3A3A5C827A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9FF09-1FAE-40E0-BE1D-3420AEDC3CD0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D22D2D-50F2-45D2-8A09-75DD1A965D02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Analyze Bitcoin Price Trends</a:t>
          </a:r>
        </a:p>
      </dsp:txBody>
      <dsp:txXfrm>
        <a:off x="1228411" y="621955"/>
        <a:ext cx="1919362" cy="1919362"/>
      </dsp:txXfrm>
    </dsp:sp>
    <dsp:sp modelId="{A566F092-3227-4F28-8443-CE8EF4969398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Measure Market Volatility</a:t>
          </a:r>
        </a:p>
      </dsp:txBody>
      <dsp:txXfrm>
        <a:off x="3519058" y="621955"/>
        <a:ext cx="1919362" cy="1919362"/>
      </dsp:txXfrm>
    </dsp:sp>
    <dsp:sp modelId="{3E190490-3403-40C1-AF72-B9BDF014FFF8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Study relationship between volume and prices changes</a:t>
          </a:r>
        </a:p>
      </dsp:txBody>
      <dsp:txXfrm>
        <a:off x="1228411" y="2912601"/>
        <a:ext cx="1919362" cy="1919362"/>
      </dsp:txXfrm>
    </dsp:sp>
    <dsp:sp modelId="{6DCA45FC-1475-4B20-9711-A3A3A5C827A5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visualization for insights </a:t>
          </a:r>
        </a:p>
      </dsp:txBody>
      <dsp:txXfrm>
        <a:off x="3519058" y="2912601"/>
        <a:ext cx="1919362" cy="1919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kaggle.com/datasets/mczielinski/bitcoin-historical-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your_user]@132.226.148.236:~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bao3-csula/CIS-5200-Bitcoin-Pric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Hand on a tablet with digital signs">
            <a:extLst>
              <a:ext uri="{FF2B5EF4-FFF2-40B4-BE49-F238E27FC236}">
                <a16:creationId xmlns:a16="http://schemas.microsoft.com/office/drawing/2014/main" id="{ADE81AFF-2A36-E4B8-6952-C4CEBDE5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605" r="-2" b="-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Analyzing Bitcoin Price Trends and Volatility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>
                <a:solidFill>
                  <a:srgbClr val="FFFFFF"/>
                </a:solidFill>
                <a:ea typeface="+mn-lt"/>
                <a:cs typeface="+mn-lt"/>
              </a:rPr>
              <a:t>Brian Bao, Diondre Wright, Nancy Lam </a:t>
            </a:r>
          </a:p>
          <a:p>
            <a:pPr algn="l"/>
            <a:r>
              <a:rPr lang="en-US" sz="1800">
                <a:solidFill>
                  <a:srgbClr val="FFFFFF"/>
                </a:solidFill>
                <a:ea typeface="+mn-lt"/>
                <a:cs typeface="+mn-lt"/>
              </a:rPr>
              <a:t>Department of Information Systems, California State University </a:t>
            </a:r>
          </a:p>
          <a:p>
            <a:pPr algn="l"/>
            <a:r>
              <a:rPr lang="en-US" sz="1800">
                <a:solidFill>
                  <a:srgbClr val="FFFFFF"/>
                </a:solidFill>
                <a:ea typeface="+mn-lt"/>
                <a:cs typeface="+mn-lt"/>
              </a:rPr>
              <a:t>CIS 5200-01 Systems Analysis and Design</a:t>
            </a:r>
            <a:endParaRPr lang="en-US" sz="1800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B1C221-21B3-0EEB-1975-A5CA865A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CB31-93B1-60EE-642B-AEAD1F4D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Bitcoin is a highly volatile cryptocurrency</a:t>
            </a:r>
          </a:p>
          <a:p>
            <a:r>
              <a:rPr lang="en-US" sz="2000"/>
              <a:t>Frequent rapid price changes</a:t>
            </a:r>
          </a:p>
          <a:p>
            <a:r>
              <a:rPr lang="en-US" sz="2000"/>
              <a:t>Understanding patterns help analyze market behavior </a:t>
            </a:r>
          </a:p>
          <a:p>
            <a:r>
              <a:rPr lang="en-US" sz="2000"/>
              <a:t>Tableau is used for data visualization</a:t>
            </a:r>
          </a:p>
        </p:txBody>
      </p:sp>
      <p:pic>
        <p:nvPicPr>
          <p:cNvPr id="5" name="Picture 4" descr="B sign on figures">
            <a:extLst>
              <a:ext uri="{FF2B5EF4-FFF2-40B4-BE49-F238E27FC236}">
                <a16:creationId xmlns:a16="http://schemas.microsoft.com/office/drawing/2014/main" id="{1C4E3070-96E4-1D53-04C5-E5A7B0E60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149" r="27356" b="-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002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459A4-90D0-3652-BE74-6C5496CA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6A5AE4-EF08-BC24-A059-198E371EE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62249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761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AD5463-433F-EE30-C3C5-237E848DC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Dataset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B33B2-F43F-9C7B-23A8-D697DEFEF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/>
              <a:t>Historical Bitcoin Data (from Kaggle):</a:t>
            </a:r>
            <a:r>
              <a:rPr lang="en-US" sz="2400"/>
              <a:t> btcusd_1-min_data.csv -&gt; bitcoin_price_clean.csv</a:t>
            </a:r>
          </a:p>
          <a:p>
            <a:r>
              <a:rPr lang="en-US" sz="2400" b="1"/>
              <a:t>Rows:</a:t>
            </a:r>
            <a:r>
              <a:rPr lang="en-US" sz="2400"/>
              <a:t> ~7.5M, </a:t>
            </a:r>
            <a:r>
              <a:rPr lang="en-US" sz="2400" b="1"/>
              <a:t>Columns:</a:t>
            </a:r>
            <a:r>
              <a:rPr lang="en-US" sz="2400"/>
              <a:t> 6</a:t>
            </a:r>
          </a:p>
          <a:p>
            <a:r>
              <a:rPr lang="en-US" sz="2400" b="1"/>
              <a:t>Data Types:</a:t>
            </a:r>
            <a:r>
              <a:rPr lang="en-US" sz="2400"/>
              <a:t> STRING, DOUBLE</a:t>
            </a:r>
          </a:p>
          <a:p>
            <a:r>
              <a:rPr lang="en-US" sz="2400" b="1"/>
              <a:t>URL: </a:t>
            </a:r>
            <a:r>
              <a:rPr lang="en-US" sz="2400">
                <a:ea typeface="+mn-lt"/>
                <a:cs typeface="+mn-lt"/>
                <a:hlinkClick r:id="rId2"/>
              </a:rPr>
              <a:t>https://www.kaggle.com/datasets/mczielinski/bitcoin-historical-data</a:t>
            </a:r>
            <a:r>
              <a:rPr lang="en-US" sz="2400">
                <a:ea typeface="+mn-lt"/>
                <a:cs typeface="+mn-lt"/>
              </a:rPr>
              <a:t> </a:t>
            </a:r>
          </a:p>
          <a:p>
            <a:endParaRPr lang="en-US" sz="2400"/>
          </a:p>
        </p:txBody>
      </p:sp>
      <p:pic>
        <p:nvPicPr>
          <p:cNvPr id="5" name="Picture 4" descr="Stock exchange numbers">
            <a:extLst>
              <a:ext uri="{FF2B5EF4-FFF2-40B4-BE49-F238E27FC236}">
                <a16:creationId xmlns:a16="http://schemas.microsoft.com/office/drawing/2014/main" id="{513559BB-34EE-0D83-34D4-88A6D0B7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43" r="17596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857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785B5-13DE-BBC7-2A15-08938F7C8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Hardware Specifications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2CE52E07-819A-1A29-C076-DDD84FFEF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D4C9-0AA5-046B-D802-F14250C50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H/W Specifications: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OS and Architecture:</a:t>
            </a:r>
            <a:r>
              <a:rPr lang="en-US" sz="1800">
                <a:solidFill>
                  <a:schemeClr val="tx2"/>
                </a:solidFill>
              </a:rPr>
              <a:t> Linux, x86_64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CPU:</a:t>
            </a:r>
            <a:r>
              <a:rPr lang="en-US" sz="1800">
                <a:solidFill>
                  <a:schemeClr val="tx2"/>
                </a:solidFill>
              </a:rPr>
              <a:t> AMD EPYC 7J13 64-Core Processor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Available CPUs:</a:t>
            </a:r>
            <a:r>
              <a:rPr lang="en-US" sz="1800">
                <a:solidFill>
                  <a:schemeClr val="tx2"/>
                </a:solidFill>
              </a:rPr>
              <a:t> 6 virtual cores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CPU Speed:</a:t>
            </a:r>
            <a:r>
              <a:rPr lang="en-US" sz="1800">
                <a:solidFill>
                  <a:schemeClr val="tx2"/>
                </a:solidFill>
              </a:rPr>
              <a:t> 2445.354 MHz / 2.45 GHz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Memory:</a:t>
            </a:r>
            <a:r>
              <a:rPr lang="en-US" sz="1800">
                <a:solidFill>
                  <a:schemeClr val="tx2"/>
                </a:solidFill>
              </a:rPr>
              <a:t> 31 GiB / 33.3 GB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Storage:</a:t>
            </a:r>
            <a:r>
              <a:rPr lang="en-US" sz="1800">
                <a:solidFill>
                  <a:schemeClr val="tx2"/>
                </a:solidFill>
              </a:rPr>
              <a:t> ~172 GB available, ~388 GB total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Nodes:</a:t>
            </a:r>
            <a:r>
              <a:rPr lang="en-US" sz="1800">
                <a:solidFill>
                  <a:schemeClr val="tx2"/>
                </a:solidFill>
              </a:rPr>
              <a:t> 5 nodes (2 Master, 3 Worker [bigdaiwn0, bigdaiwn1, bigdaiwn2])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Hadoop Cluster Version: </a:t>
            </a:r>
            <a:r>
              <a:rPr lang="en-US" sz="1800">
                <a:solidFill>
                  <a:schemeClr val="tx2"/>
                </a:solidFill>
              </a:rPr>
              <a:t>3.4.1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b="1">
                <a:solidFill>
                  <a:schemeClr val="tx2"/>
                </a:solidFill>
              </a:rPr>
              <a:t>SSH Connection: </a:t>
            </a:r>
            <a:r>
              <a:rPr lang="en-US" sz="1800">
                <a:solidFill>
                  <a:schemeClr val="tx2"/>
                </a:solidFill>
              </a:rPr>
              <a:t>132.226.148.236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099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F081B-51DF-FB8B-5F1E-444D62C2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7A3D0-3088-399B-D26D-314FC3D4E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/>
              <a:t>Process: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Download dataset as raw .csv file from Kaggle and upload to Linux file systems with scp.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 BitcoinPrice directory in HDFS to store .csv file.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Move .csv file from Linux file system to HDFS.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 beeline client and personal database.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4A76-8CB2-EB1A-489A-CE50C3DC9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/>
              <a:t>Commands: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scp btcusd_1-min_data.csv [</a:t>
            </a:r>
            <a:r>
              <a:rPr lang="en-US">
                <a:hlinkClick r:id="rId2"/>
              </a:rPr>
              <a:t>your_user</a:t>
            </a:r>
            <a:r>
              <a:rPr lang="en-US">
                <a:hlinkClick r:id="rId2"/>
              </a:rPr>
              <a:t>]@132.226.148.236:~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hdfs dfs –mkdir BitcoinPrice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hdfs dfs –put btcusd_1-min_data.csv BitcoinPrice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beeline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 your_user;</a:t>
            </a:r>
          </a:p>
        </p:txBody>
      </p:sp>
    </p:spTree>
    <p:extLst>
      <p:ext uri="{BB962C8B-B14F-4D97-AF65-F5344CB8AC3E}">
        <p14:creationId xmlns:p14="http://schemas.microsoft.com/office/powerpoint/2010/main" val="214031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23061-7877-FE2D-4906-A5F495F8F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9C508-A511-C3DB-7D64-738AE14D2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Data Cleaning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2A71-E428-DF36-9932-6B4493053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b="1"/>
              <a:t>Process: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Create table from .csv file.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Convert unixtime column to ISO time column.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Export to HDFS and move to Linux file system.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Download to local system for data visualization.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504BB-D8BC-F942-05CE-5485DAF2D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020" y="2177456"/>
            <a:ext cx="509778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/>
              <a:t>Commands: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CREATE EXTERNAL TABLE bitcoin_price...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CREATE TABLE bitcoin_price_clean AS SELECT </a:t>
            </a:r>
            <a:r>
              <a:rPr lang="en-US" sz="2200" b="1"/>
              <a:t>from_unixtime</a:t>
            </a:r>
            <a:r>
              <a:rPr lang="en-US" sz="2200"/>
              <a:t>(ts) as ts... FROM bitcoin_price;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INSERT OVERWRITE DIRECTORY '/user/your_user/BitcoinPriceClean'…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scp your_user@IP...</a:t>
            </a:r>
          </a:p>
        </p:txBody>
      </p:sp>
    </p:spTree>
    <p:extLst>
      <p:ext uri="{BB962C8B-B14F-4D97-AF65-F5344CB8AC3E}">
        <p14:creationId xmlns:p14="http://schemas.microsoft.com/office/powerpoint/2010/main" val="2944739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F9002-833B-4D68-CD1B-59B9521F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Analysis Flowchart</a:t>
            </a:r>
          </a:p>
        </p:txBody>
      </p:sp>
      <p:sp>
        <p:nvSpPr>
          <p:cNvPr id="6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diagram of data analysis&#10;&#10;AI-generated content may be incorrect.">
            <a:extLst>
              <a:ext uri="{FF2B5EF4-FFF2-40B4-BE49-F238E27FC236}">
                <a16:creationId xmlns:a16="http://schemas.microsoft.com/office/drawing/2014/main" id="{F9B87F2E-B9CC-AAE0-1095-2C6F4C6F3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4007" y="1340469"/>
            <a:ext cx="7425970" cy="41890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77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3CC95-E003-4A91-0A8E-4DE004672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Overview</a:t>
            </a:r>
          </a:p>
        </p:txBody>
      </p:sp>
      <p:pic>
        <p:nvPicPr>
          <p:cNvPr id="6" name="Picture 5" descr="A blue rectangular banner with yellow circles and a yellow circle with white text&#10;&#10;AI-generated content may be incorrect.">
            <a:extLst>
              <a:ext uri="{FF2B5EF4-FFF2-40B4-BE49-F238E27FC236}">
                <a16:creationId xmlns:a16="http://schemas.microsoft.com/office/drawing/2014/main" id="{AD35358D-1A5F-0C35-00F8-57B255F7B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943" y="1966293"/>
            <a:ext cx="84401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9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ne graph with numbers and text&#10;&#10;AI-generated content may be incorrect.">
            <a:extLst>
              <a:ext uri="{FF2B5EF4-FFF2-40B4-BE49-F238E27FC236}">
                <a16:creationId xmlns:a16="http://schemas.microsoft.com/office/drawing/2014/main" id="{7B42B224-1863-8A1F-48F2-A6834191C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4" y="1450753"/>
            <a:ext cx="7120563" cy="42839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69E713-40C1-D286-4F7A-E55A2C661715}"/>
              </a:ext>
            </a:extLst>
          </p:cNvPr>
          <p:cNvSpPr txBox="1"/>
          <p:nvPr/>
        </p:nvSpPr>
        <p:spPr>
          <a:xfrm>
            <a:off x="7910285" y="2533476"/>
            <a:ext cx="3443514" cy="344783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/>
              <a:t>This chart illustrates Bitcoin's strong growth from 2011 to 2025, highlighting a significant surge post-2020, confirming rising market adoption and investor interest.</a:t>
            </a:r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93896A-1690-D136-0ECC-7F84D9812C8A}"/>
              </a:ext>
            </a:extLst>
          </p:cNvPr>
          <p:cNvSpPr txBox="1"/>
          <p:nvPr/>
        </p:nvSpPr>
        <p:spPr>
          <a:xfrm>
            <a:off x="789545" y="161711"/>
            <a:ext cx="7953552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Bitcoin Price Growth</a:t>
            </a:r>
          </a:p>
          <a:p>
            <a:pPr algn="ctr"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5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8530E-9B64-3D82-072F-3220AFC0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Volatility</a:t>
            </a:r>
          </a:p>
        </p:txBody>
      </p:sp>
      <p:sp>
        <p:nvSpPr>
          <p:cNvPr id="48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8AF0783-DC14-3C79-B950-83075E349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Volatility increases over time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Spikes align with major price changes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Reflects higher market risk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DAC39-69E3-0E7E-C1B6-40F619470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76" y="1955140"/>
            <a:ext cx="11718062" cy="472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703493-B719-D405-0207-EFCAF2AC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Monthly Price</a:t>
            </a:r>
            <a:endParaRPr lang="en-US" sz="3200" b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F876F-2A8A-146A-2E65-AED2B27D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Monthly prices show moderate variation without a fixed pattern </a:t>
            </a: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No consistent seasonal behavior is evident </a:t>
            </a: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Price movement is primarily driven by long-term trends</a:t>
            </a:r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4F55138C-A8E1-897A-011A-0187B2DA2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10" y="1540630"/>
            <a:ext cx="6401475" cy="384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3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5355D-2FED-394D-2DCB-ED38C527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Time of Day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A332F9-F2FC-1EC7-3C93-D0C7245DBC2E}"/>
              </a:ext>
            </a:extLst>
          </p:cNvPr>
          <p:cNvSpPr txBox="1"/>
          <p:nvPr/>
        </p:nvSpPr>
        <p:spPr>
          <a:xfrm>
            <a:off x="270906" y="3023830"/>
            <a:ext cx="4005652" cy="250050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Price varies by time of day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Certain hours show higher activity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Influenced by global trading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4" name="Content Placeholder 3" descr="A graph showing a number of blue squares&#10;&#10;AI-generated content may be incorrect.">
            <a:extLst>
              <a:ext uri="{FF2B5EF4-FFF2-40B4-BE49-F238E27FC236}">
                <a16:creationId xmlns:a16="http://schemas.microsoft.com/office/drawing/2014/main" id="{CF175541-B280-7C8C-0D55-0682BA62E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7610" y="1840397"/>
            <a:ext cx="7677092" cy="316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4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financial digital analysis">
            <a:extLst>
              <a:ext uri="{FF2B5EF4-FFF2-40B4-BE49-F238E27FC236}">
                <a16:creationId xmlns:a16="http://schemas.microsoft.com/office/drawing/2014/main" id="{B742D768-B805-7ED4-E105-E391E871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60" r="13701" b="-6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71795-3DEE-21AC-3D67-E85FAF52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81864-BFA5-4CFB-A268-E9757896E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Bitcoin market is unstable but active</a:t>
            </a:r>
          </a:p>
          <a:p>
            <a:r>
              <a:rPr lang="en-US" sz="2000"/>
              <a:t>Volatility increases during major price changes</a:t>
            </a:r>
          </a:p>
          <a:p>
            <a:r>
              <a:rPr lang="en-US" sz="2000"/>
              <a:t>Trading activity is influenced by price</a:t>
            </a:r>
          </a:p>
          <a:p>
            <a:r>
              <a:rPr lang="en-US" sz="2000"/>
              <a:t>Visualization helps us understand the patterns</a:t>
            </a:r>
          </a:p>
        </p:txBody>
      </p:sp>
    </p:spTree>
    <p:extLst>
      <p:ext uri="{BB962C8B-B14F-4D97-AF65-F5344CB8AC3E}">
        <p14:creationId xmlns:p14="http://schemas.microsoft.com/office/powerpoint/2010/main" val="249152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2A3F1-D8C6-4405-93F9-26202D33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Resources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6382B-6797-387F-3ECA-AEEF85E39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GitHub Repository: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2"/>
              </a:rPr>
              <a:t>https://github.com/bbao3-csula/CIS-5200-Bitcoin-Price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7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8ACFF-D36F-9BC5-A40E-51267D4C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Questions?</a:t>
            </a: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Wood human figure">
            <a:extLst>
              <a:ext uri="{FF2B5EF4-FFF2-40B4-BE49-F238E27FC236}">
                <a16:creationId xmlns:a16="http://schemas.microsoft.com/office/drawing/2014/main" id="{92E28A54-AE35-7064-F037-02221E36D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0821" b="-3"/>
          <a:stretch>
            <a:fillRect/>
          </a:stretch>
        </p:blipFill>
        <p:spPr>
          <a:xfrm>
            <a:off x="6236463" y="578738"/>
            <a:ext cx="5027224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6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452376A2FE834AA561970F94C65930" ma:contentTypeVersion="3" ma:contentTypeDescription="Create a new document." ma:contentTypeScope="" ma:versionID="34db985d367974e9c3d9ccfa693d6c6d">
  <xsd:schema xmlns:xsd="http://www.w3.org/2001/XMLSchema" xmlns:xs="http://www.w3.org/2001/XMLSchema" xmlns:p="http://schemas.microsoft.com/office/2006/metadata/properties" xmlns:ns2="e724817d-d574-4c4f-9f56-68cf6e29e78f" targetNamespace="http://schemas.microsoft.com/office/2006/metadata/properties" ma:root="true" ma:fieldsID="e4e0c9c5720128a5dcbb3320a146e614" ns2:_="">
    <xsd:import namespace="e724817d-d574-4c4f-9f56-68cf6e29e7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24817d-d574-4c4f-9f56-68cf6e29e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1B7461-0F6D-4326-A036-280DFABE186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FBA4D0-5EA9-43A6-8E80-EF387664B04B}">
  <ds:schemaRefs>
    <ds:schemaRef ds:uri="e724817d-d574-4c4f-9f56-68cf6e29e7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3885D2-51CE-46BA-B1A1-9A66E3AAB3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Analyzing Bitcoin Price Trends and Volatility</vt:lpstr>
      <vt:lpstr>Introduction</vt:lpstr>
      <vt:lpstr>Project Objective</vt:lpstr>
      <vt:lpstr>Dataset Specifications</vt:lpstr>
      <vt:lpstr>Hardware Specifications</vt:lpstr>
      <vt:lpstr>Data Cleaning</vt:lpstr>
      <vt:lpstr>Data Cleaning (cont.)</vt:lpstr>
      <vt:lpstr>Data Analysis Flowchart</vt:lpstr>
      <vt:lpstr>Analysis Overview</vt:lpstr>
      <vt:lpstr>PowerPoint Presentation</vt:lpstr>
      <vt:lpstr>Volatility</vt:lpstr>
      <vt:lpstr>Monthly Price</vt:lpstr>
      <vt:lpstr>Time of Day</vt:lpstr>
      <vt:lpstr>Conclusion</vt:lpstr>
      <vt:lpstr>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2026-05-03T16:32:40Z</dcterms:created>
  <dcterms:modified xsi:type="dcterms:W3CDTF">2026-05-04T22:45:06Z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0x010100A7452376A2FE834AA561970F94C65930</vt:lpwstr>
  </property>
</Properties>
</file>